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4572000"/>
            <a:ext cx="2743200" cy="2743200"/>
          </a:xfrm>
          <a:prstGeom prst="ellipse">
            <a:avLst/>
          </a:prstGeom>
          <a:solidFill>
            <a:srgbClr val="0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UBCompass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E6C8"/>
                </a:solidFill>
              </a:defRPr>
            </a:pPr>
            <a:r>
              <a:t>Navigate Your 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87878"/>
                </a:solidFill>
              </a:defRPr>
            </a:pPr>
            <a:r>
              <a:t>Campus Navigation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3774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>
                <a:solidFill>
                  <a:srgbClr val="212121"/>
                </a:solidFill>
              </a:defRPr>
            </a:pPr>
            <a:r>
              <a:t>A cross-platform mobile application designed for the University of Buea, providing real-time GPS navigation, indoor wayfinding, and accessibility-aware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114800"/>
            <a:ext cx="2011680" cy="118872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4206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6177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6400"/>
                </a:solidFill>
              </a:defRPr>
            </a:pPr>
            <a:r>
              <a:t>Cross-Platform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892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iOS &amp; Android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114800"/>
            <a:ext cx="2011680" cy="118872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206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6177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6400"/>
                </a:solidFill>
              </a:defRPr>
            </a:pPr>
            <a:r>
              <a:t>GPS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892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Real-time tracking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114800"/>
            <a:ext cx="2011680" cy="118872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4206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6177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6400"/>
                </a:solidFill>
              </a:defRPr>
            </a:pPr>
            <a:r>
              <a:t>Indoor 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892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Floor-by-floor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5669280"/>
            <a:ext cx="3657600" cy="457200"/>
          </a:xfrm>
          <a:prstGeom prst="round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5760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University of Buea, Cameroon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85313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12121"/>
                </a:solidFill>
              </a:defRPr>
            </a:pPr>
            <a:r>
              <a:t>Problem &amp;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87878"/>
                </a:solidFill>
              </a:defRPr>
            </a:pPr>
            <a:r>
              <a:t>Understanding the challenge and our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200400"/>
            <a:ext cx="13716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&amp;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5486400" cy="4572000"/>
          </a:xfrm>
          <a:prstGeom prst="roundRect">
            <a:avLst/>
          </a:prstGeom>
          <a:solidFill>
            <a:srgbClr val="FFEBEB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42832"/>
                </a:solidFill>
              </a:defRPr>
            </a:pPr>
            <a:r>
              <a:t>❌  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1400"/>
              </a:spcBef>
              <a:defRPr sz="1600">
                <a:solidFill>
                  <a:srgbClr val="212121"/>
                </a:solidFill>
              </a:defRPr>
            </a:pPr>
            <a:r>
              <a:t>•  New students get lost finding faculties</a:t>
            </a:r>
          </a:p>
          <a:p>
            <a:pPr>
              <a:lnSpc>
                <a:spcPct val="140000"/>
              </a:lnSpc>
              <a:spcBef>
                <a:spcPts val="1400"/>
              </a:spcBef>
              <a:defRPr sz="1600">
                <a:solidFill>
                  <a:srgbClr val="212121"/>
                </a:solidFill>
              </a:defRPr>
            </a:pPr>
            <a:r>
              <a:t>•  No digital navigation exists for UB campus</a:t>
            </a:r>
          </a:p>
          <a:p>
            <a:pPr>
              <a:lnSpc>
                <a:spcPct val="140000"/>
              </a:lnSpc>
              <a:spcBef>
                <a:spcPts val="1400"/>
              </a:spcBef>
              <a:defRPr sz="1600">
                <a:solidFill>
                  <a:srgbClr val="212121"/>
                </a:solidFill>
              </a:defRPr>
            </a:pPr>
            <a:r>
              <a:t>•  Indoor building layouts are confusing</a:t>
            </a:r>
          </a:p>
          <a:p>
            <a:pPr>
              <a:lnSpc>
                <a:spcPct val="140000"/>
              </a:lnSpc>
              <a:spcBef>
                <a:spcPts val="1400"/>
              </a:spcBef>
              <a:defRPr sz="1600">
                <a:solidFill>
                  <a:srgbClr val="212121"/>
                </a:solidFill>
              </a:defRPr>
            </a:pPr>
            <a:r>
              <a:t>•  No wheelchair-accessible route options</a:t>
            </a:r>
          </a:p>
          <a:p>
            <a:pPr>
              <a:lnSpc>
                <a:spcPct val="140000"/>
              </a:lnSpc>
              <a:spcBef>
                <a:spcPts val="1400"/>
              </a:spcBef>
              <a:defRPr sz="1600">
                <a:solidFill>
                  <a:srgbClr val="212121"/>
                </a:solidFill>
              </a:defRPr>
            </a:pPr>
            <a:r>
              <a:t>•  Paper maps are outdated and impractical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5486400" cy="4572000"/>
          </a:xfrm>
          <a:prstGeom prst="roundRect">
            <a:avLst/>
          </a:prstGeom>
          <a:solidFill>
            <a:srgbClr val="E8F5E8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00"/>
                </a:solidFill>
              </a:defRPr>
            </a:pPr>
            <a:r>
              <a:t>✓  UBCompass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1400"/>
              </a:spcBef>
              <a:defRPr sz="1600">
                <a:solidFill>
                  <a:srgbClr val="212121"/>
                </a:solidFill>
              </a:defRPr>
            </a:pPr>
            <a:r>
              <a:t>•  GPS-powered outdoor navigation</a:t>
            </a:r>
          </a:p>
          <a:p>
            <a:pPr>
              <a:lnSpc>
                <a:spcPct val="140000"/>
              </a:lnSpc>
              <a:spcBef>
                <a:spcPts val="1400"/>
              </a:spcBef>
              <a:defRPr sz="1600">
                <a:solidFill>
                  <a:srgbClr val="212121"/>
                </a:solidFill>
              </a:defRPr>
            </a:pPr>
            <a:r>
              <a:t>•  SVG indoor floor plans with pathfinding</a:t>
            </a:r>
          </a:p>
          <a:p>
            <a:pPr>
              <a:lnSpc>
                <a:spcPct val="140000"/>
              </a:lnSpc>
              <a:spcBef>
                <a:spcPts val="1400"/>
              </a:spcBef>
              <a:defRPr sz="1600">
                <a:solidFill>
                  <a:srgbClr val="212121"/>
                </a:solidFill>
              </a:defRPr>
            </a:pPr>
            <a:r>
              <a:t>•  Real-time 'blue dot' location tracking</a:t>
            </a:r>
          </a:p>
          <a:p>
            <a:pPr>
              <a:lnSpc>
                <a:spcPct val="140000"/>
              </a:lnSpc>
              <a:spcBef>
                <a:spcPts val="1400"/>
              </a:spcBef>
              <a:defRPr sz="1600">
                <a:solidFill>
                  <a:srgbClr val="212121"/>
                </a:solidFill>
              </a:defRPr>
            </a:pPr>
            <a:r>
              <a:t>•  Accessibility mode avoids stairs</a:t>
            </a:r>
          </a:p>
          <a:p>
            <a:pPr>
              <a:lnSpc>
                <a:spcPct val="140000"/>
              </a:lnSpc>
              <a:spcBef>
                <a:spcPts val="1400"/>
              </a:spcBef>
              <a:defRPr sz="1600">
                <a:solidFill>
                  <a:srgbClr val="212121"/>
                </a:solidFill>
              </a:defRPr>
            </a:pPr>
            <a:r>
              <a:t>•  Accurate ETA with Haversine formula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85313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12121"/>
                </a:solidFill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87878"/>
                </a:solidFill>
              </a:defRPr>
            </a:pPr>
            <a:r>
              <a:t>How UBCompass is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200400"/>
            <a:ext cx="13716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737360"/>
            <a:ext cx="914400" cy="914400"/>
          </a:xfrm>
          <a:prstGeom prst="ellipse">
            <a:avLst/>
          </a:prstGeom>
          <a:solidFill>
            <a:srgbClr val="C8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⚛️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400"/>
                </a:solidFill>
              </a:defRPr>
            </a:pPr>
            <a: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2194560" cy="82296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React 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Cross-platform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06240"/>
            <a:ext cx="2194560" cy="82296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Expo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Dev 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2194560" cy="82296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32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Type safety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155448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86200" y="1737360"/>
            <a:ext cx="914400" cy="914400"/>
          </a:xfrm>
          <a:prstGeom prst="ellipse">
            <a:avLst/>
          </a:prstGeom>
          <a:solidFill>
            <a:srgbClr val="C8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19202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788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400"/>
                </a:solidFill>
              </a:defRPr>
            </a:pPr>
            <a:r>
              <a:t>UI/Design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291840"/>
            <a:ext cx="2194560" cy="82296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React Native Paper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703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Material Design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206240"/>
            <a:ext cx="2194560" cy="82296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4297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React Native SVG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6177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Floor plans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155448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0" y="1737360"/>
            <a:ext cx="914400" cy="914400"/>
          </a:xfrm>
          <a:prstGeom prst="ellipse">
            <a:avLst/>
          </a:prstGeom>
          <a:solidFill>
            <a:srgbClr val="C8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9202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🗄️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2788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400"/>
                </a:solidFill>
              </a:defRPr>
            </a:pPr>
            <a:r>
              <a:t>Backend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291840"/>
            <a:ext cx="2194560" cy="82296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Supabase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703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PostgreSQL BaaS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206240"/>
            <a:ext cx="2194560" cy="82296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4297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OSRM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6177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Route calculation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58200" y="155448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81160" y="1737360"/>
            <a:ext cx="914400" cy="914400"/>
          </a:xfrm>
          <a:prstGeom prst="ellipse">
            <a:avLst/>
          </a:prstGeom>
          <a:solidFill>
            <a:srgbClr val="C8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19202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🗺️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2788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400"/>
                </a:solidFill>
              </a:defRPr>
            </a:pPr>
            <a:r>
              <a:t>Maps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1080" y="3291840"/>
            <a:ext cx="2194560" cy="82296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OpenStreetMap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3703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Map tiles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41080" y="4206240"/>
            <a:ext cx="2194560" cy="82296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4297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Expo Location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6177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GPS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1097280"/>
          </a:xfrm>
          <a:prstGeom prst="round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📱  UBCompass Mobile App  |  React Native + Expo + TypeScript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743200"/>
            <a:ext cx="22860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00"/>
                </a:solidFill>
              </a:defRPr>
            </a:pPr>
            <a:r>
              <a:t>🗺️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87878"/>
                </a:solidFill>
              </a:defRPr>
            </a:pPr>
            <a:r>
              <a:t>Outdoor</a:t>
            </a:r>
            <a:br/>
            <a:r>
              <a:t>Navigation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743200"/>
            <a:ext cx="22860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880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00"/>
                </a:solidFill>
              </a:defRPr>
            </a:pPr>
            <a:r>
              <a:t>🔍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461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87878"/>
                </a:solidFill>
              </a:defRPr>
            </a:pPr>
            <a:r>
              <a:t>Building</a:t>
            </a:r>
            <a:br/>
            <a:r>
              <a:t>Discovery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43200"/>
            <a:ext cx="22860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880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00"/>
                </a:solidFill>
              </a:defRPr>
            </a:pPr>
            <a:r>
              <a:t>🏢 Indoor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461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87878"/>
                </a:solidFill>
              </a:defRPr>
            </a:pPr>
            <a:r>
              <a:t>Floor Plan</a:t>
            </a:r>
            <a:br/>
            <a:r>
              <a:t>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39" y="2743200"/>
            <a:ext cx="22860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9" y="2880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00"/>
                </a:solidFill>
              </a:defRPr>
            </a:pPr>
            <a:r>
              <a:t>⚙️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9" y="32461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87878"/>
                </a:solidFill>
              </a:defRPr>
            </a:pPr>
            <a:r>
              <a:t>Preferences &amp;</a:t>
            </a:r>
            <a:br/>
            <a:r>
              <a:t>Accessibility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114800"/>
            <a:ext cx="10058400" cy="640080"/>
          </a:xfrm>
          <a:prstGeom prst="roundRect">
            <a:avLst/>
          </a:prstGeom>
          <a:solidFill>
            <a:srgbClr val="FFF5EB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B35"/>
                </a:solidFill>
              </a:defRPr>
            </a:pPr>
            <a:r>
              <a:t>📦  Zustand State Management  |  Global State &amp; Preferences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029200"/>
            <a:ext cx="2286000" cy="10058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166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📍 Expo 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532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GPS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5029200"/>
            <a:ext cx="2286000" cy="1005840"/>
          </a:xfrm>
          <a:prstGeom prst="round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5166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🗄️ Supabase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532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PostgreSQL 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29200"/>
            <a:ext cx="2286000" cy="10058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5166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🛣️ OSRM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532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Route Calculation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39" y="5029200"/>
            <a:ext cx="2286000" cy="1005840"/>
          </a:xfrm>
          <a:prstGeom prst="roundRect">
            <a:avLst/>
          </a:prstGeom>
          <a:solidFill>
            <a:srgbClr val="82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39" y="5166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🗺️ OpenStreetMap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39" y="5532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Map Tiles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0280" y="4800600"/>
            <a:ext cx="91440" cy="22860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00600" y="4800600"/>
            <a:ext cx="91440" cy="22860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60920" y="4800600"/>
            <a:ext cx="91440" cy="22860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21239" y="4800600"/>
            <a:ext cx="91440" cy="22860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85313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12121"/>
                </a:solidFill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87878"/>
                </a:solidFill>
              </a:defRPr>
            </a:pPr>
            <a:r>
              <a:t>What makes UBCompass powerful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200400"/>
            <a:ext cx="13716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Navigation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37360"/>
            <a:ext cx="822960" cy="822960"/>
          </a:xfrm>
          <a:prstGeom prst="ellipse">
            <a:avLst/>
          </a:prstGeom>
          <a:solidFill>
            <a:srgbClr val="C8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8308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GPS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945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</a:defRPr>
            </a:pPr>
            <a:r>
              <a:t>Real-time location tracking with blue dot indicator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006400"/>
                </a:solidFill>
              </a:defRPr>
            </a:pPr>
            <a:r>
              <a:t>✓ Live GPS with accuracy circle</a:t>
            </a:r>
          </a:p>
          <a:p>
            <a:pPr>
              <a:spcBef>
                <a:spcPts val="400"/>
              </a:spcBef>
              <a:defRPr sz="1100">
                <a:solidFill>
                  <a:srgbClr val="006400"/>
                </a:solidFill>
              </a:defRPr>
            </a:pPr>
            <a:r>
              <a:t>✓ OSRM walking routes</a:t>
            </a:r>
          </a:p>
          <a:p>
            <a:pPr>
              <a:spcBef>
                <a:spcPts val="400"/>
              </a:spcBef>
              <a:defRPr sz="1100">
                <a:solidFill>
                  <a:srgbClr val="006400"/>
                </a:solidFill>
              </a:defRPr>
            </a:pPr>
            <a:r>
              <a:t>✓ Turn-by-turn directions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486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1737360"/>
            <a:ext cx="822960" cy="822960"/>
          </a:xfrm>
          <a:prstGeom prst="ellipse">
            <a:avLst/>
          </a:prstGeom>
          <a:solidFill>
            <a:srgbClr val="C8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178308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Indoor 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21945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</a:defRPr>
            </a:pPr>
            <a:r>
              <a:t>SVG floor plans with room-level pathfinding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006400"/>
                </a:solidFill>
              </a:defRPr>
            </a:pPr>
            <a:r>
              <a:t>✓ Pinch-to-zoom floor plans</a:t>
            </a:r>
          </a:p>
          <a:p>
            <a:pPr>
              <a:spcBef>
                <a:spcPts val="400"/>
              </a:spcBef>
              <a:defRPr sz="1100">
                <a:solidFill>
                  <a:srgbClr val="006400"/>
                </a:solidFill>
              </a:defRPr>
            </a:pPr>
            <a:r>
              <a:t>✓ Dijkstra shortest path</a:t>
            </a:r>
          </a:p>
          <a:p>
            <a:pPr>
              <a:spcBef>
                <a:spcPts val="400"/>
              </a:spcBef>
              <a:defRPr sz="1100">
                <a:solidFill>
                  <a:srgbClr val="006400"/>
                </a:solidFill>
              </a:defRPr>
            </a:pPr>
            <a:r>
              <a:t>✓ Multi-floor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5486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97680"/>
            <a:ext cx="822960" cy="822960"/>
          </a:xfrm>
          <a:prstGeom prst="ellipse">
            <a:avLst/>
          </a:prstGeom>
          <a:solidFill>
            <a:srgbClr val="C8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34340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Accessibility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754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</a:defRPr>
            </a:pPr>
            <a:r>
              <a:t>Wheelchair-friendly routing that avoids stairs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006400"/>
                </a:solidFill>
              </a:defRPr>
            </a:pPr>
            <a:r>
              <a:t>✓ One-tap toggle</a:t>
            </a:r>
          </a:p>
          <a:p>
            <a:pPr>
              <a:spcBef>
                <a:spcPts val="400"/>
              </a:spcBef>
              <a:defRPr sz="1100">
                <a:solidFill>
                  <a:srgbClr val="006400"/>
                </a:solidFill>
              </a:defRPr>
            </a:pPr>
            <a:r>
              <a:t>✓ Ramp-only paths</a:t>
            </a:r>
          </a:p>
          <a:p>
            <a:pPr>
              <a:spcBef>
                <a:spcPts val="400"/>
              </a:spcBef>
              <a:defRPr sz="1100">
                <a:solidFill>
                  <a:srgbClr val="006400"/>
                </a:solidFill>
              </a:defRPr>
            </a:pPr>
            <a:r>
              <a:t>✓ Accessible entrances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23360"/>
            <a:ext cx="5486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4297680"/>
            <a:ext cx="822960" cy="822960"/>
          </a:xfrm>
          <a:prstGeom prst="ellipse">
            <a:avLst/>
          </a:prstGeom>
          <a:solidFill>
            <a:srgbClr val="C8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43484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434340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Smart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4754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</a:defRPr>
            </a:pPr>
            <a:r>
              <a:t>Instant search across buildings and rooms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3035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006400"/>
                </a:solidFill>
              </a:defRPr>
            </a:pPr>
            <a:r>
              <a:t>✓ Real-time filtering</a:t>
            </a:r>
          </a:p>
          <a:p>
            <a:pPr>
              <a:spcBef>
                <a:spcPts val="400"/>
              </a:spcBef>
              <a:defRPr sz="1100">
                <a:solidFill>
                  <a:srgbClr val="006400"/>
                </a:solidFill>
              </a:defRPr>
            </a:pPr>
            <a:r>
              <a:t>✓ Category icons</a:t>
            </a:r>
          </a:p>
          <a:p>
            <a:pPr>
              <a:spcBef>
                <a:spcPts val="400"/>
              </a:spcBef>
              <a:defRPr sz="1100">
                <a:solidFill>
                  <a:srgbClr val="006400"/>
                </a:solidFill>
              </a:defRPr>
            </a:pPr>
            <a:r>
              <a:t>✓ Recent searches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85313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12121"/>
                </a:solidFill>
              </a:defRPr>
            </a:pPr>
            <a:r>
              <a:t>Core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87878"/>
                </a:solidFill>
              </a:defRPr>
            </a:pPr>
            <a:r>
              <a:t>The math behind navigation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200400"/>
            <a:ext cx="13716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Core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4864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85F4"/>
                </a:solidFill>
              </a:defRPr>
            </a:pPr>
            <a:r>
              <a:t>📐  Haversine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7878"/>
                </a:solidFill>
              </a:defRPr>
            </a:pPr>
            <a:r>
              <a:t>Calculates distance between GPS coordinates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d = 2R × arcsin(√(sin²(Δφ/2) + cos(φ₁)cos(φ₂)sin²(Δλ/2)))</a:t>
            </a:r>
          </a:p>
          <a:p>
            <a:pPr>
              <a:spcBef>
                <a:spcPts val="1200"/>
              </a:spcBef>
              <a:defRPr sz="1100">
                <a:solidFill>
                  <a:srgbClr val="006400"/>
                </a:solidFill>
              </a:defRPr>
            </a:pPr>
            <a:r>
              <a:t>Used for: Distance calculation, ETA estimation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4864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B35"/>
                </a:solidFill>
              </a:defRPr>
            </a:pPr>
            <a:r>
              <a:t>🛤️  Dijkstra's 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7878"/>
                </a:solidFill>
              </a:defRPr>
            </a:pPr>
            <a:r>
              <a:t>Finds shortest path between indoor rooms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5603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1. Build graph from room connections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2. Process nodes by shortest distance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3. Accessibility mode filters stairs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114800"/>
            <a:ext cx="11155680" cy="1920240"/>
          </a:xfrm>
          <a:prstGeom prst="roundRect">
            <a:avLst/>
          </a:prstGeom>
          <a:solidFill>
            <a:srgbClr val="C8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400"/>
                </a:solidFill>
              </a:defRPr>
            </a:pPr>
            <a:r>
              <a:t>⏱️  Walking Time Estimation (5 km/h average speed)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6400"/>
                </a:solidFill>
              </a:defRPr>
            </a:pPr>
            <a:r>
              <a:t>100m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~1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5029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87878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846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6400"/>
                </a:solidFill>
              </a:defRPr>
            </a:pPr>
            <a:r>
              <a:t>500m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3035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~6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5029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87878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846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6400"/>
                </a:solidFill>
              </a:defRPr>
            </a:pPr>
            <a:r>
              <a:t>1 km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3035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~12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029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87878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846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6400"/>
                </a:solidFill>
              </a:defRPr>
            </a:pPr>
            <a:r>
              <a:t>5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53035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~1 hour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85313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12121"/>
                </a:solidFill>
              </a:defRPr>
            </a:pPr>
            <a:r>
              <a:t>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87878"/>
                </a:solidFill>
              </a:defRPr>
            </a:pPr>
            <a:r>
              <a:t>PostgreSQL via Supabase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200400"/>
            <a:ext cx="13716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Database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474720" cy="640080"/>
          </a:xfrm>
          <a:prstGeom prst="round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🏛️  buildings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108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id (UUID)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name, short_name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latitude, longitude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floors, category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accessible_entrance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46304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23360" y="1463040"/>
            <a:ext cx="3474720" cy="640080"/>
          </a:xfrm>
          <a:prstGeom prst="round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600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🚪  rooms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286000"/>
            <a:ext cx="3108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id (UUID)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building_id (FK)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name, room_number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floor, type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node_x, node_y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46304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0" y="1463040"/>
            <a:ext cx="3474720" cy="640080"/>
          </a:xfrm>
          <a:prstGeom prst="round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600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🕸️  indoor_graph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286000"/>
            <a:ext cx="3108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id (UUID)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building_id (FK)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node_x, node_y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is_stairs, is_ramp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connections[]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846320"/>
            <a:ext cx="11155680" cy="118872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📊  Seeded Campus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Main Gate  •  Faculty of Science  •  Faculty of Engineering  •  Administration  •  Library  •  Sports Complex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85313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12121"/>
                </a:solidFill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87878"/>
                </a:solidFill>
              </a:defRPr>
            </a:pPr>
            <a:r>
              <a:t>See UBCompass in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200400"/>
            <a:ext cx="13716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Demo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App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87878"/>
                </a:solidFill>
              </a:defRPr>
            </a:pPr>
            <a:r>
              <a:t>Splash screen → Map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3291840"/>
            <a:ext cx="91440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33558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737360"/>
            <a:ext cx="640080" cy="6400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8288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GPS Permission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87878"/>
                </a:solidFill>
              </a:defRPr>
            </a:pPr>
            <a:r>
              <a:t>Grant location → Blue dot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3291840"/>
            <a:ext cx="91440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3558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30s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55448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8288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8288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87878"/>
                </a:solidFill>
              </a:defRPr>
            </a:pPr>
            <a:r>
              <a:t>Find Faculty of Science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07040" y="3291840"/>
            <a:ext cx="91440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33558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2336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29768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2976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Directions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87878"/>
                </a:solidFill>
              </a:defRPr>
            </a:pPr>
            <a:r>
              <a:t>Route + Distance + ETA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5760720"/>
            <a:ext cx="91440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58247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02336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80560" y="4206240"/>
            <a:ext cx="640080" cy="6400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29768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2976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Indoor Nav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87878"/>
                </a:solidFill>
              </a:defRPr>
            </a:pPr>
            <a:r>
              <a:t>Floor plan + Pathfinding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5760720"/>
            <a:ext cx="91440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58247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402336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21040" y="4206240"/>
            <a:ext cx="640080" cy="6400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429768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42976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Accessibility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87878"/>
                </a:solidFill>
              </a:defRPr>
            </a:pPr>
            <a:r>
              <a:t>Toggle → Avoid stairs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607040" y="5760720"/>
            <a:ext cx="91440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07040" y="58247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30s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85313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12121"/>
                </a:solidFill>
              </a:defRPr>
            </a:pPr>
            <a:r>
              <a:t>Development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87878"/>
                </a:solidFill>
              </a:defRPr>
            </a:pPr>
            <a:r>
              <a:t>Where we are and where we're going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200400"/>
            <a:ext cx="13716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Development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200400"/>
            <a:ext cx="10972800" cy="73152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2971800"/>
            <a:ext cx="548640" cy="54864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2004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400"/>
                </a:solidFill>
              </a:defRPr>
            </a:pPr>
            <a:r>
              <a:t>✅  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• Project setup</a:t>
            </a:r>
          </a:p>
          <a:p>
            <a:pPr>
              <a:defRPr sz="1000">
                <a:solidFill>
                  <a:srgbClr val="212121"/>
                </a:solidFill>
              </a:defRPr>
            </a:pPr>
            <a:r>
              <a:t>• Database design</a:t>
            </a:r>
          </a:p>
          <a:p>
            <a:pPr>
              <a:defRPr sz="1000">
                <a:solidFill>
                  <a:srgbClr val="212121"/>
                </a:solidFill>
              </a:defRPr>
            </a:pPr>
            <a:r>
              <a:t>• Outdoor navigation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3200400" cy="228600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006400"/>
                </a:solidFill>
              </a:defRPr>
            </a:pPr>
            <a:r>
              <a:t>✓ Project setup</a:t>
            </a:r>
          </a:p>
          <a:p>
            <a:pPr>
              <a:spcBef>
                <a:spcPts val="600"/>
              </a:spcBef>
              <a:defRPr sz="1100">
                <a:solidFill>
                  <a:srgbClr val="006400"/>
                </a:solidFill>
              </a:defRPr>
            </a:pPr>
            <a:r>
              <a:t>✓ Database design</a:t>
            </a:r>
          </a:p>
          <a:p>
            <a:pPr>
              <a:spcBef>
                <a:spcPts val="600"/>
              </a:spcBef>
              <a:defRPr sz="1100">
                <a:solidFill>
                  <a:srgbClr val="006400"/>
                </a:solidFill>
              </a:defRPr>
            </a:pPr>
            <a:r>
              <a:t>✓ Outdoor navigation</a:t>
            </a:r>
          </a:p>
          <a:p>
            <a:pPr>
              <a:spcBef>
                <a:spcPts val="600"/>
              </a:spcBef>
              <a:defRPr sz="1100">
                <a:solidFill>
                  <a:srgbClr val="006400"/>
                </a:solidFill>
              </a:defRPr>
            </a:pPr>
            <a:r>
              <a:t>✓ Indoor maps</a:t>
            </a:r>
          </a:p>
          <a:p>
            <a:pPr>
              <a:spcBef>
                <a:spcPts val="600"/>
              </a:spcBef>
              <a:defRPr sz="1100">
                <a:solidFill>
                  <a:srgbClr val="006400"/>
                </a:solidFill>
              </a:defRPr>
            </a:pPr>
            <a:r>
              <a:t>✓ Search &amp; Settings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29718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1463040"/>
            <a:ext cx="32004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600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🔄  Current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0116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• Testing</a:t>
            </a:r>
          </a:p>
          <a:p>
            <a:pPr>
              <a:defRPr sz="1000">
                <a:solidFill>
                  <a:srgbClr val="212121"/>
                </a:solidFill>
              </a:defRPr>
            </a:pPr>
            <a:r>
              <a:t>• Bug fixes</a:t>
            </a:r>
          </a:p>
          <a:p>
            <a:pPr>
              <a:defRPr sz="1000">
                <a:solidFill>
                  <a:srgbClr val="212121"/>
                </a:solidFill>
              </a:defRPr>
            </a:pPr>
            <a:r>
              <a:t>• Performance optimization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3657600"/>
            <a:ext cx="3200400" cy="228600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8404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212121"/>
                </a:solidFill>
              </a:defRPr>
            </a:pPr>
            <a:r>
              <a:t>✓ Testing</a:t>
            </a:r>
          </a:p>
          <a:p>
            <a:pPr>
              <a:spcBef>
                <a:spcPts val="600"/>
              </a:spcBef>
              <a:defRPr sz="1100">
                <a:solidFill>
                  <a:srgbClr val="212121"/>
                </a:solidFill>
              </a:defRPr>
            </a:pPr>
            <a:r>
              <a:t>✓ Bug fixes</a:t>
            </a:r>
          </a:p>
          <a:p>
            <a:pPr>
              <a:spcBef>
                <a:spcPts val="600"/>
              </a:spcBef>
              <a:defRPr sz="1100">
                <a:solidFill>
                  <a:srgbClr val="212121"/>
                </a:solidFill>
              </a:defRPr>
            </a:pPr>
            <a:r>
              <a:t>✓ Performance optimization</a:t>
            </a:r>
          </a:p>
        </p:txBody>
      </p:sp>
      <p:sp>
        <p:nvSpPr>
          <p:cNvPr id="17" name="Oval 16"/>
          <p:cNvSpPr/>
          <p:nvPr/>
        </p:nvSpPr>
        <p:spPr>
          <a:xfrm>
            <a:off x="8869680" y="2971800"/>
            <a:ext cx="548640" cy="5486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0" y="1463040"/>
            <a:ext cx="32004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600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285F4"/>
                </a:solidFill>
              </a:defRPr>
            </a:pPr>
            <a:r>
              <a:t>🚀 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0116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• More floor plans</a:t>
            </a:r>
          </a:p>
          <a:p>
            <a:pPr>
              <a:defRPr sz="1000">
                <a:solidFill>
                  <a:srgbClr val="212121"/>
                </a:solidFill>
              </a:defRPr>
            </a:pPr>
            <a:r>
              <a:t>• Offline support</a:t>
            </a:r>
          </a:p>
          <a:p>
            <a:pPr>
              <a:defRPr sz="1000">
                <a:solidFill>
                  <a:srgbClr val="212121"/>
                </a:solidFill>
              </a:defRPr>
            </a:pPr>
            <a:r>
              <a:t>• Voice navigation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657600"/>
            <a:ext cx="3200400" cy="2286000"/>
          </a:xfrm>
          <a:prstGeom prst="round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38404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212121"/>
                </a:solidFill>
              </a:defRPr>
            </a:pPr>
            <a:r>
              <a:t>✓ More floor plans</a:t>
            </a:r>
          </a:p>
          <a:p>
            <a:pPr>
              <a:spcBef>
                <a:spcPts val="600"/>
              </a:spcBef>
              <a:defRPr sz="1100">
                <a:solidFill>
                  <a:srgbClr val="212121"/>
                </a:solidFill>
              </a:defRPr>
            </a:pPr>
            <a:r>
              <a:t>✓ Offline support</a:t>
            </a:r>
          </a:p>
          <a:p>
            <a:pPr>
              <a:spcBef>
                <a:spcPts val="600"/>
              </a:spcBef>
              <a:defRPr sz="1100">
                <a:solidFill>
                  <a:srgbClr val="212121"/>
                </a:solidFill>
              </a:defRPr>
            </a:pPr>
            <a:r>
              <a:t>✓ Voice navigation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00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0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8E6C8"/>
                </a:solidFill>
              </a:defRPr>
            </a:pPr>
            <a:r>
              <a:t>UBCompass — Navigating the Future of Campus Mobility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389120"/>
            <a:ext cx="6400800" cy="1371600"/>
          </a:xfrm>
          <a:prstGeom prst="roundRect">
            <a:avLst/>
          </a:prstGeom>
          <a:solidFill>
            <a:srgbClr val="0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45720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Supervisor: Dr. Mougnol Romeo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Development Team: Group 5</a:t>
            </a:r>
          </a:p>
          <a:p>
            <a:pPr algn="ctr">
              <a:spcBef>
                <a:spcPts val="800"/>
              </a:spcBef>
              <a:defRPr sz="1400">
                <a:solidFill>
                  <a:srgbClr val="C8E6C8"/>
                </a:solidFill>
              </a:defRPr>
            </a:pPr>
            <a:r>
              <a:t>University of Buea, Cameroon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Let's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24688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29260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🎓  University of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👨‍🏫  Dr. Mougnol Romeo (Supervisor)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2062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👥  Group 5 Development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846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📧  Contact via University Portal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